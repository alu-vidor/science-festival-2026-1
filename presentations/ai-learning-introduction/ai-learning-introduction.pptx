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ИИ — общее название подходов к распознаванию, прогнозированию и выбору действий. Машинное обучение позволяет находить закономерности по данным; нейросеть — один из видов моделей. На площадке робот обучает небольшую модель правил: прогнозирует расход, состояние колёс и застревание. Отдельный планировщик использует эти прогнозы для выбора пути. Город — агентная симуляция, где жители самостоятельно действуют по заданным правилам. Ни один интерактив не следует объявлять нейросетью.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робота связывает вход — покрытие и состояние колёс до шага — с измеренным результатом: расходом заряда, состоянием колёс после шага и возможным застреванием. Измерения появляются во время поездки. В обучение попадают только данные, переданные кнопкой «Передать опыт роботу». Прогноз до поездки остаётся зафиксированным: новое обучение не переписывает ожидания прошлой поездки. Качество и разнообразие данных важнее одного счётчика количества примеров. Не раскрывайте скрытые эффекты покрытий до опытов.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Обучение с учителем использует примеры с известным целевым ответом. Ответом может быть класс, число или состояние. В нынешней игре ответы дают фактические измерения поездки: ребёнок выбирает опыт и момент передачи данных, но не ставит вручную метку «проедет» или «застрянет». Модель сохраняет правила, согласующиеся с примерами. Для нового сочетания несколько правил могут оставаться возможными: тогда прогноз включает предположение. В этом интерактиве модель учится правилам по примерам.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Один из методов обучения без учителя — кластеризация. Алгоритм группирует объекты по сходству их признаков; заранее заданных правильных названий групп нет. Возможный городской пример — исследовать поездки и выделить группы жителей с похожими транспортными потребностями. Это знакомство с другим методом обучения: кластеризация в интерактиве города не реализована. Его жители действуют по заданным правилам агентной симуляции. Цвет групп на схеме означает найденную группу, а не исходную метку.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обучении с подкреплением агент действует в среде, наблюдает последствия и получает награду. Он меняет стратегию так, чтобы увеличить суммарную награду, в том числе за будущие последствия. Например, доставщика можно обучать учитывать успешную доставку и расход энергии. Это другой подход, а не описание реализации робота площадки. Здесь модель робота обучается по измерениям, а звёзды оценивают игровой результат участника. Само наличие баллов в игре не означает обучение с подкреплением.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Качество модели проверяют на ситуациях, которые не использовали для обучения. У робота лабораторный опыт переносится на другие пути и районы, поэтому важен прогноз нового сочетания покрытия и состояния колёс. Ошибка не обязательно означает неверные измерения: данных может не хватать для выбора единственного правила. В городе каждый житель — агент с домом, семьёй, запасами и потребностями. Решения служб меняют последствия, а сама модель на нажатиях не обучается. Опыт и зачёт города используют одинаковый исходный город; при одинаковом плане и улучшениях результат воспроизводится. Симуляция упрощает реальность.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310896"/>
            <a:ext cx="118872" cy="118872"/>
          </a:xfrm>
          <a:prstGeom prst="ellipse">
            <a:avLst/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274320"/>
            <a:ext cx="2743200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7A71"/>
                </a:solidFill>
                <a:latin typeface="Arial"/>
              </a:defRPr>
            </a:pPr>
            <a:r>
              <a:t>ОСНОВЫ 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06840" y="219456"/>
            <a:ext cx="2596896" cy="347472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6567" y="292608"/>
            <a:ext cx="2377439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7A71"/>
                </a:solidFill>
                <a:latin typeface="Arial"/>
              </a:defRPr>
            </a:pPr>
            <a:r>
              <a:t>ПОЗНАЁМ ЧЕРЕЗ ОПЫТ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13816"/>
            <a:ext cx="11018520" cy="6550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58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233D40"/>
                </a:solidFill>
                <a:latin typeface="Arial"/>
              </a:defRPr>
            </a:pPr>
            <a:r>
              <a:t>ИИ: прогнозы и решения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10881360" cy="4071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57B7C"/>
                </a:solidFill>
                <a:latin typeface="Arial"/>
              </a:defRPr>
            </a:pPr>
            <a:r>
              <a:t>Компьютерные системы распознают, прогнозируют и выбирают действия.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10160">
            <a:solidFill>
              <a:srgbClr val="D6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2" y="6510528"/>
            <a:ext cx="7315200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57B7C"/>
                </a:solidFill>
                <a:latin typeface="Arial"/>
              </a:defRPr>
            </a:pPr>
            <a:r>
              <a:t>поИИграем? · Фестиваль науки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5328" y="6483096"/>
            <a:ext cx="932688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07A71"/>
                </a:solidFill>
                <a:latin typeface="Arial"/>
              </a:defRPr>
            </a:pPr>
            <a:r>
              <a:t>01 / 06</a:t>
            </a:r>
          </a:p>
        </p:txBody>
      </p:sp>
      <p:pic>
        <p:nvPicPr>
          <p:cNvPr id="11" name="Picture 10" descr="robot-and-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2103120"/>
            <a:ext cx="54864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2423160"/>
            <a:ext cx="5212080" cy="1445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3D40"/>
                </a:solidFill>
                <a:latin typeface="Arial"/>
              </a:defRPr>
            </a:pPr>
            <a:r>
              <a:t>Машинное обучение</a:t>
            </a:r>
          </a:p>
          <a:p>
            <a:pPr algn="l"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3D40"/>
                </a:solidFill>
                <a:latin typeface="Arial"/>
              </a:defRPr>
            </a:pPr>
            <a:r>
              <a:t>находит закономерности</a:t>
            </a:r>
          </a:p>
          <a:p>
            <a:pPr algn="l"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3D40"/>
                </a:solidFill>
                <a:latin typeface="Arial"/>
              </a:defRPr>
            </a:pPr>
            <a:r>
              <a:t>по примерам.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41648"/>
            <a:ext cx="3977639" cy="384048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96512"/>
            <a:ext cx="3611880" cy="3141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07A71"/>
                </a:solidFill>
                <a:latin typeface="Arial"/>
              </a:defRPr>
            </a:pPr>
            <a:r>
              <a:t>Распознать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3977639" cy="384048"/>
          </a:xfrm>
          <a:prstGeom prst="roundRect">
            <a:avLst>
              <a:gd name="adj" fmla="val 12000"/>
            </a:avLst>
          </a:prstGeom>
          <a:solidFill>
            <a:srgbClr val="EB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3611880" cy="3141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773A8"/>
                </a:solidFill>
                <a:latin typeface="Arial"/>
              </a:defRPr>
            </a:pPr>
            <a:r>
              <a:t>Предсказать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92624"/>
            <a:ext cx="3977639" cy="384048"/>
          </a:xfrm>
          <a:prstGeom prst="roundRect">
            <a:avLst>
              <a:gd name="adj" fmla="val 12000"/>
            </a:avLst>
          </a:prstGeom>
          <a:solidFill>
            <a:srgbClr val="F8E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47488"/>
            <a:ext cx="3611880" cy="3141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48136"/>
                </a:solidFill>
                <a:latin typeface="Arial"/>
              </a:defRPr>
            </a:pPr>
            <a:r>
              <a:t>Выбрать действие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5596128"/>
            <a:ext cx="4297680" cy="3141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57B7C"/>
                </a:solidFill>
                <a:latin typeface="Arial"/>
              </a:defRPr>
            </a:pPr>
            <a:r>
              <a:t>Один из подходов к созданию ИИ.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310896"/>
            <a:ext cx="118872" cy="118872"/>
          </a:xfrm>
          <a:prstGeom prst="ellipse">
            <a:avLst/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274320"/>
            <a:ext cx="2743200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7A71"/>
                </a:solidFill>
                <a:latin typeface="Arial"/>
              </a:defRPr>
            </a:pPr>
            <a:r>
              <a:t>ОСНОВЫ 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06840" y="219456"/>
            <a:ext cx="2596896" cy="347472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6567" y="292608"/>
            <a:ext cx="2377439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7A71"/>
                </a:solidFill>
                <a:latin typeface="Arial"/>
              </a:defRPr>
            </a:pPr>
            <a:r>
              <a:t>ПОЗНАЁМ ЧЕРЕЗ ОПЫТ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13816"/>
            <a:ext cx="11018520" cy="6550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58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233D40"/>
                </a:solidFill>
                <a:latin typeface="Arial"/>
              </a:defRPr>
            </a:pPr>
            <a:r>
              <a:t>Откуда берутся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10881360" cy="4071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57B7C"/>
                </a:solidFill>
                <a:latin typeface="Arial"/>
              </a:defRPr>
            </a:pPr>
            <a:r>
              <a:t>Наблюдения превращаются в примеры, по которым можно учиться.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10160">
            <a:solidFill>
              <a:srgbClr val="D6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2" y="6510528"/>
            <a:ext cx="7315200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57B7C"/>
                </a:solidFill>
                <a:latin typeface="Arial"/>
              </a:defRPr>
            </a:pPr>
            <a:r>
              <a:t>поИИграем? · Фестиваль науки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5328" y="6483096"/>
            <a:ext cx="932688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07A71"/>
                </a:solidFill>
                <a:latin typeface="Arial"/>
              </a:defRPr>
            </a:pPr>
            <a:r>
              <a:t>02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23160"/>
            <a:ext cx="2551176" cy="2542032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" y="2606040"/>
            <a:ext cx="566928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679192"/>
            <a:ext cx="347472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7A71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3218688"/>
            <a:ext cx="274320" cy="448056"/>
          </a:xfrm>
          <a:prstGeom prst="roundRect">
            <a:avLst>
              <a:gd name="adj" fmla="val 12000"/>
            </a:avLst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41832" y="3300984"/>
            <a:ext cx="164592" cy="0"/>
          </a:xfrm>
          <a:prstGeom prst="line">
            <a:avLst/>
          </a:prstGeom>
          <a:ln w="25400">
            <a:solidFill>
              <a:srgbClr val="E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1832" y="3410712"/>
            <a:ext cx="164592" cy="0"/>
          </a:xfrm>
          <a:prstGeom prst="line">
            <a:avLst/>
          </a:prstGeom>
          <a:ln w="25400">
            <a:solidFill>
              <a:srgbClr val="E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1832" y="3520440"/>
            <a:ext cx="164592" cy="0"/>
          </a:xfrm>
          <a:prstGeom prst="line">
            <a:avLst/>
          </a:prstGeom>
          <a:ln w="25400">
            <a:solidFill>
              <a:srgbClr val="E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23544" y="3282696"/>
            <a:ext cx="73152" cy="73152"/>
          </a:xfrm>
          <a:prstGeom prst="ellipse">
            <a:avLst/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25880" y="3218688"/>
            <a:ext cx="274320" cy="448056"/>
          </a:xfrm>
          <a:prstGeom prst="roundRect">
            <a:avLst>
              <a:gd name="adj" fmla="val 12000"/>
            </a:avLst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380744" y="3300984"/>
            <a:ext cx="164592" cy="0"/>
          </a:xfrm>
          <a:prstGeom prst="line">
            <a:avLst/>
          </a:prstGeom>
          <a:ln w="25400">
            <a:solidFill>
              <a:srgbClr val="E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80744" y="3410712"/>
            <a:ext cx="164592" cy="0"/>
          </a:xfrm>
          <a:prstGeom prst="line">
            <a:avLst/>
          </a:prstGeom>
          <a:ln w="25400">
            <a:solidFill>
              <a:srgbClr val="E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80744" y="3520440"/>
            <a:ext cx="164592" cy="0"/>
          </a:xfrm>
          <a:prstGeom prst="line">
            <a:avLst/>
          </a:prstGeom>
          <a:ln w="25400">
            <a:solidFill>
              <a:srgbClr val="E4F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362456" y="3282696"/>
            <a:ext cx="73152" cy="73152"/>
          </a:xfrm>
          <a:prstGeom prst="ellipse">
            <a:avLst/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886200"/>
            <a:ext cx="2212848" cy="3296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07A71"/>
                </a:solidFill>
                <a:latin typeface="Arial"/>
              </a:defRPr>
            </a:pPr>
            <a:r>
              <a:t>Что наблюдаем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325112"/>
            <a:ext cx="2212848" cy="608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33D40"/>
                </a:solidFill>
                <a:latin typeface="Arial"/>
              </a:defRPr>
            </a:pPr>
            <a:r>
              <a:t>Покрытие</a:t>
            </a:r>
          </a:p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33D40"/>
                </a:solidFill>
                <a:latin typeface="Arial"/>
              </a:defRPr>
            </a:pPr>
            <a:r>
              <a:t>и колёса до шага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91256" y="3666744"/>
            <a:ext cx="164592" cy="0"/>
          </a:xfrm>
          <a:prstGeom prst="line">
            <a:avLst/>
          </a:prstGeom>
          <a:ln w="25400">
            <a:solidFill>
              <a:srgbClr val="657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3305556" y="3616451"/>
            <a:ext cx="100584" cy="100584"/>
          </a:xfrm>
          <a:prstGeom prst="triangl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10712" y="2423160"/>
            <a:ext cx="2551176" cy="2542032"/>
          </a:xfrm>
          <a:prstGeom prst="roundRect">
            <a:avLst>
              <a:gd name="adj" fmla="val 12000"/>
            </a:avLst>
          </a:prstGeom>
          <a:solidFill>
            <a:srgbClr val="F8E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84448" y="2606040"/>
            <a:ext cx="566928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94176" y="2679192"/>
            <a:ext cx="347472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4813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1" name="Oval 30"/>
          <p:cNvSpPr/>
          <p:nvPr/>
        </p:nvSpPr>
        <p:spPr>
          <a:xfrm>
            <a:off x="3730752" y="3346704"/>
            <a:ext cx="164592" cy="164592"/>
          </a:xfrm>
          <a:prstGeom prst="ellipse">
            <a:avLst/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14800" y="3346704"/>
            <a:ext cx="164592" cy="164592"/>
          </a:xfrm>
          <a:prstGeom prst="ellipse">
            <a:avLst/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98848" y="3346704"/>
            <a:ext cx="164592" cy="164592"/>
          </a:xfrm>
          <a:prstGeom prst="ellipse">
            <a:avLst/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3721608" y="3621024"/>
            <a:ext cx="1060704" cy="0"/>
          </a:xfrm>
          <a:prstGeom prst="line">
            <a:avLst/>
          </a:prstGeom>
          <a:ln w="25400">
            <a:solidFill>
              <a:srgbClr val="A481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4732020" y="3570732"/>
            <a:ext cx="100584" cy="100584"/>
          </a:xfrm>
          <a:prstGeom prst="triangle">
            <a:avLst/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84448" y="3886200"/>
            <a:ext cx="2212848" cy="3296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48136"/>
                </a:solidFill>
                <a:latin typeface="Arial"/>
              </a:defRPr>
            </a:pPr>
            <a:r>
              <a:t>Проводим опыт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4448" y="4325112"/>
            <a:ext cx="2212848" cy="608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33D40"/>
                </a:solidFill>
                <a:latin typeface="Arial"/>
              </a:defRPr>
            </a:pPr>
            <a:r>
              <a:t>Смотрим,</a:t>
            </a:r>
          </a:p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33D40"/>
                </a:solidFill>
                <a:latin typeface="Arial"/>
              </a:defRPr>
            </a:pPr>
            <a:r>
              <a:t>что произошло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07608" y="3666744"/>
            <a:ext cx="164592" cy="0"/>
          </a:xfrm>
          <a:prstGeom prst="line">
            <a:avLst/>
          </a:prstGeom>
          <a:ln w="25400">
            <a:solidFill>
              <a:srgbClr val="657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6121908" y="3616451"/>
            <a:ext cx="100584" cy="100584"/>
          </a:xfrm>
          <a:prstGeom prst="triangl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27064" y="2423160"/>
            <a:ext cx="2551176" cy="2542032"/>
          </a:xfrm>
          <a:prstGeom prst="roundRect">
            <a:avLst>
              <a:gd name="adj" fmla="val 12000"/>
            </a:avLst>
          </a:prstGeom>
          <a:solidFill>
            <a:srgbClr val="E7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0" y="2606040"/>
            <a:ext cx="566928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2679192"/>
            <a:ext cx="347472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0879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56248" y="3493008"/>
            <a:ext cx="210312" cy="201168"/>
          </a:xfrm>
          <a:prstGeom prst="rect">
            <a:avLst/>
          </a:prstGeom>
          <a:solidFill>
            <a:srgbClr val="608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76288" y="3300984"/>
            <a:ext cx="210312" cy="393192"/>
          </a:xfrm>
          <a:prstGeom prst="rect">
            <a:avLst/>
          </a:prstGeom>
          <a:solidFill>
            <a:srgbClr val="608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96328" y="3108960"/>
            <a:ext cx="210312" cy="585216"/>
          </a:xfrm>
          <a:prstGeom prst="rect">
            <a:avLst/>
          </a:prstGeom>
          <a:solidFill>
            <a:srgbClr val="608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886200"/>
            <a:ext cx="2212848" cy="3296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0879C"/>
                </a:solidFill>
                <a:latin typeface="Arial"/>
              </a:defRPr>
            </a:pPr>
            <a:r>
              <a:t>Измеряем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325112"/>
            <a:ext cx="2212848" cy="608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33D40"/>
                </a:solidFill>
                <a:latin typeface="Arial"/>
              </a:defRPr>
            </a:pPr>
            <a:r>
              <a:t>Расход · проезд</a:t>
            </a:r>
          </a:p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33D40"/>
                </a:solidFill>
                <a:latin typeface="Arial"/>
              </a:defRPr>
            </a:pPr>
            <a:r>
              <a:t>Колёса после шага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823960" y="3666744"/>
            <a:ext cx="164592" cy="0"/>
          </a:xfrm>
          <a:prstGeom prst="line">
            <a:avLst/>
          </a:prstGeom>
          <a:ln w="25400">
            <a:solidFill>
              <a:srgbClr val="657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8938260" y="3616451"/>
            <a:ext cx="100584" cy="100584"/>
          </a:xfrm>
          <a:prstGeom prst="triangl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043416" y="2423160"/>
            <a:ext cx="2551176" cy="2542032"/>
          </a:xfrm>
          <a:prstGeom prst="roundRect">
            <a:avLst>
              <a:gd name="adj" fmla="val 12000"/>
            </a:avLst>
          </a:prstGeom>
          <a:solidFill>
            <a:srgbClr val="EB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217152" y="2606040"/>
            <a:ext cx="566928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0" y="2679192"/>
            <a:ext cx="347472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773A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27464" y="3108960"/>
            <a:ext cx="585216" cy="585216"/>
          </a:xfrm>
          <a:prstGeom prst="roundRect">
            <a:avLst>
              <a:gd name="adj" fmla="val 12000"/>
            </a:avLst>
          </a:prstGeom>
          <a:solidFill>
            <a:srgbClr val="777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546336" y="3008376"/>
            <a:ext cx="0" cy="146303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46336" y="3648456"/>
            <a:ext cx="0" cy="146304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26880" y="3227832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966960" y="3227832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692640" y="3008376"/>
            <a:ext cx="0" cy="146303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92640" y="3648456"/>
            <a:ext cx="0" cy="146304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326880" y="3374136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966960" y="3374136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838944" y="3008376"/>
            <a:ext cx="0" cy="146303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8944" y="3648456"/>
            <a:ext cx="0" cy="146304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326880" y="3520440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66960" y="3520440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9610344" y="3291840"/>
            <a:ext cx="201168" cy="201168"/>
          </a:xfrm>
          <a:prstGeom prst="ellipse">
            <a:avLst/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17152" y="3886200"/>
            <a:ext cx="2212848" cy="3296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773A8"/>
                </a:solidFill>
                <a:latin typeface="Arial"/>
              </a:defRPr>
            </a:pPr>
            <a:r>
              <a:t>Передаём данные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17152" y="4325112"/>
            <a:ext cx="2212848" cy="608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33D40"/>
                </a:solidFill>
                <a:latin typeface="Arial"/>
              </a:defRPr>
            </a:pPr>
            <a:r>
              <a:t>Модель ищет</a:t>
            </a:r>
          </a:p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33D40"/>
                </a:solidFill>
                <a:latin typeface="Arial"/>
              </a:defRPr>
            </a:pPr>
            <a:r>
              <a:t>закономерности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4360" y="565099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5528" y="5760720"/>
            <a:ext cx="10579608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07A71"/>
                </a:solidFill>
                <a:latin typeface="Arial"/>
              </a:defRPr>
            </a:pPr>
            <a:r>
              <a:t>В игре обучение начинается после передачи опыта роботу.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310896"/>
            <a:ext cx="118872" cy="118872"/>
          </a:xfrm>
          <a:prstGeom prst="ellipse">
            <a:avLst/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274320"/>
            <a:ext cx="2743200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7A71"/>
                </a:solidFill>
                <a:latin typeface="Arial"/>
              </a:defRPr>
            </a:pPr>
            <a:r>
              <a:t>ОСНОВЫ 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06840" y="219456"/>
            <a:ext cx="2596896" cy="347472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6567" y="292608"/>
            <a:ext cx="2377439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7A71"/>
                </a:solidFill>
                <a:latin typeface="Arial"/>
              </a:defRPr>
            </a:pPr>
            <a:r>
              <a:t>ПОЗНАЁМ ЧЕРЕЗ ОПЫТ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13816"/>
            <a:ext cx="11018520" cy="6550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58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233D40"/>
                </a:solidFill>
                <a:latin typeface="Arial"/>
              </a:defRPr>
            </a:pPr>
            <a:r>
              <a:t>Обучение с учителем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10881360" cy="4071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57B7C"/>
                </a:solidFill>
                <a:latin typeface="Arial"/>
              </a:defRPr>
            </a:pPr>
            <a:r>
              <a:t>У каждого примера есть входные данные и известный результат.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10160">
            <a:solidFill>
              <a:srgbClr val="D6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2" y="6510528"/>
            <a:ext cx="7315200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57B7C"/>
                </a:solidFill>
                <a:latin typeface="Arial"/>
              </a:defRPr>
            </a:pPr>
            <a:r>
              <a:t>поИИграем? · Фестиваль науки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5328" y="6483096"/>
            <a:ext cx="932688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07A71"/>
                </a:solidFill>
                <a:latin typeface="Arial"/>
              </a:defRPr>
            </a:pPr>
            <a:r>
              <a:t>03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77440"/>
            <a:ext cx="3447288" cy="2724912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5256" y="2724912"/>
            <a:ext cx="950976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069848" y="2880360"/>
            <a:ext cx="521208" cy="0"/>
          </a:xfrm>
          <a:prstGeom prst="line">
            <a:avLst/>
          </a:prstGeom>
          <a:ln w="25400">
            <a:solidFill>
              <a:srgbClr val="307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4983" y="2834640"/>
            <a:ext cx="950976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179576" y="2990088"/>
            <a:ext cx="521208" cy="0"/>
          </a:xfrm>
          <a:prstGeom prst="line">
            <a:avLst/>
          </a:prstGeom>
          <a:ln w="25400">
            <a:solidFill>
              <a:srgbClr val="307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124712" y="2944368"/>
            <a:ext cx="950976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289304" y="3099815"/>
            <a:ext cx="521208" cy="0"/>
          </a:xfrm>
          <a:prstGeom prst="line">
            <a:avLst/>
          </a:prstGeom>
          <a:ln w="25400">
            <a:solidFill>
              <a:srgbClr val="307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3776472"/>
            <a:ext cx="2962656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07A71"/>
                </a:solidFill>
                <a:latin typeface="Arial"/>
              </a:defRPr>
            </a:pPr>
            <a:r>
              <a:t>Примеры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79392"/>
            <a:ext cx="2962656" cy="6395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33D40"/>
                </a:solidFill>
                <a:latin typeface="Arial"/>
              </a:defRPr>
            </a:pPr>
            <a:r>
              <a:t>Покрытие + колёса до</a:t>
            </a:r>
          </a:p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33D40"/>
                </a:solidFill>
                <a:latin typeface="Arial"/>
              </a:defRPr>
            </a:pPr>
            <a:r>
              <a:t>Известный результат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87368" y="3657600"/>
            <a:ext cx="228600" cy="0"/>
          </a:xfrm>
          <a:prstGeom prst="line">
            <a:avLst/>
          </a:prstGeom>
          <a:ln w="25400">
            <a:solidFill>
              <a:srgbClr val="657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4265676" y="3607308"/>
            <a:ext cx="100584" cy="100584"/>
          </a:xfrm>
          <a:prstGeom prst="triangl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70832" y="2377440"/>
            <a:ext cx="3447288" cy="2724912"/>
          </a:xfrm>
          <a:prstGeom prst="roundRect">
            <a:avLst>
              <a:gd name="adj" fmla="val 12000"/>
            </a:avLst>
          </a:prstGeom>
          <a:solidFill>
            <a:srgbClr val="EB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01184" y="2834640"/>
            <a:ext cx="585216" cy="585216"/>
          </a:xfrm>
          <a:prstGeom prst="roundRect">
            <a:avLst>
              <a:gd name="adj" fmla="val 12000"/>
            </a:avLst>
          </a:prstGeom>
          <a:solidFill>
            <a:srgbClr val="777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020056" y="2734056"/>
            <a:ext cx="0" cy="146304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0056" y="3374136"/>
            <a:ext cx="0" cy="146304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00600" y="2953512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40680" y="2953512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66360" y="2734056"/>
            <a:ext cx="0" cy="146304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166360" y="3374136"/>
            <a:ext cx="0" cy="146304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00600" y="3099816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440680" y="3099816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12664" y="2734056"/>
            <a:ext cx="0" cy="146304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312664" y="3374136"/>
            <a:ext cx="0" cy="146304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00600" y="3246120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440680" y="3246120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084064" y="3017520"/>
            <a:ext cx="201168" cy="201168"/>
          </a:xfrm>
          <a:prstGeom prst="ellipse">
            <a:avLst/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2" y="3776472"/>
            <a:ext cx="2962656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7773A8"/>
                </a:solidFill>
                <a:latin typeface="Arial"/>
              </a:defRPr>
            </a:pPr>
            <a:r>
              <a:t>Модель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9432" y="4279392"/>
            <a:ext cx="2962656" cy="6395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33D40"/>
                </a:solidFill>
                <a:latin typeface="Arial"/>
              </a:defRPr>
            </a:pPr>
            <a:r>
              <a:t>Находит правила,</a:t>
            </a:r>
          </a:p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33D40"/>
                </a:solidFill>
                <a:latin typeface="Arial"/>
              </a:defRPr>
            </a:pPr>
            <a:r>
              <a:t>объясняющие примеры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63840" y="3657600"/>
            <a:ext cx="228600" cy="0"/>
          </a:xfrm>
          <a:prstGeom prst="line">
            <a:avLst/>
          </a:prstGeom>
          <a:ln w="25400">
            <a:solidFill>
              <a:srgbClr val="657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8042148" y="3607308"/>
            <a:ext cx="100584" cy="100584"/>
          </a:xfrm>
          <a:prstGeom prst="triangl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47304" y="2377440"/>
            <a:ext cx="3447288" cy="2724912"/>
          </a:xfrm>
          <a:prstGeom prst="roundRect">
            <a:avLst>
              <a:gd name="adj" fmla="val 12000"/>
            </a:avLst>
          </a:prstGeom>
          <a:solidFill>
            <a:srgbClr val="F8E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22208" y="3099816"/>
            <a:ext cx="173736" cy="173736"/>
          </a:xfrm>
          <a:prstGeom prst="ellipse">
            <a:avLst/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53144" y="2798064"/>
            <a:ext cx="173736" cy="173736"/>
          </a:xfrm>
          <a:prstGeom prst="ellipse">
            <a:avLst/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427464" y="3328416"/>
            <a:ext cx="173736" cy="173736"/>
          </a:xfrm>
          <a:prstGeom prst="ellipse">
            <a:avLst/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8659368" y="2880360"/>
            <a:ext cx="539496" cy="274320"/>
          </a:xfrm>
          <a:prstGeom prst="line">
            <a:avLst/>
          </a:prstGeom>
          <a:ln w="25400">
            <a:solidFill>
              <a:srgbClr val="A481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659368" y="3154680"/>
            <a:ext cx="822960" cy="228600"/>
          </a:xfrm>
          <a:prstGeom prst="line">
            <a:avLst/>
          </a:prstGeom>
          <a:ln w="25400">
            <a:solidFill>
              <a:srgbClr val="A481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375904" y="3776472"/>
            <a:ext cx="2962656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A48136"/>
                </a:solidFill>
                <a:latin typeface="Arial"/>
              </a:defRPr>
            </a:pPr>
            <a:r>
              <a:t>Новый прогноз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5904" y="4279392"/>
            <a:ext cx="2962656" cy="6395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33D40"/>
                </a:solidFill>
                <a:latin typeface="Arial"/>
              </a:defRPr>
            </a:pPr>
            <a:r>
              <a:t>Расход заряда</a:t>
            </a:r>
          </a:p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33D40"/>
                </a:solidFill>
                <a:latin typeface="Arial"/>
              </a:defRPr>
            </a:pPr>
            <a:r>
              <a:t>Состояние колёс · проезд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360" y="565099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8" y="5760720"/>
            <a:ext cx="10579608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07A71"/>
                </a:solidFill>
                <a:latin typeface="Arial"/>
              </a:defRPr>
            </a:pPr>
            <a:r>
              <a:t>На площадке известный ответ дают измерения поездки.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310896"/>
            <a:ext cx="118872" cy="118872"/>
          </a:xfrm>
          <a:prstGeom prst="ellipse">
            <a:avLst/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274320"/>
            <a:ext cx="2743200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7A71"/>
                </a:solidFill>
                <a:latin typeface="Arial"/>
              </a:defRPr>
            </a:pPr>
            <a:r>
              <a:t>ОСНОВЫ 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06840" y="219456"/>
            <a:ext cx="2596896" cy="347472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6567" y="292608"/>
            <a:ext cx="2377439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7A71"/>
                </a:solidFill>
                <a:latin typeface="Arial"/>
              </a:defRPr>
            </a:pPr>
            <a:r>
              <a:t>ПОЗНАЁМ ЧЕРЕЗ ОПЫТ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13816"/>
            <a:ext cx="11018520" cy="6550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58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233D40"/>
                </a:solidFill>
                <a:latin typeface="Arial"/>
              </a:defRPr>
            </a:pPr>
            <a:r>
              <a:t>Обучение без учителя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10881360" cy="4071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57B7C"/>
                </a:solidFill>
                <a:latin typeface="Arial"/>
              </a:defRPr>
            </a:pPr>
            <a:r>
              <a:t>Алгоритм ищет сходства и группы в данных без готовых ответов.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10160">
            <a:solidFill>
              <a:srgbClr val="D6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2" y="6510528"/>
            <a:ext cx="7315200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57B7C"/>
                </a:solidFill>
                <a:latin typeface="Arial"/>
              </a:defRPr>
            </a:pPr>
            <a:r>
              <a:t>поИИграем? · Фестиваль науки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5328" y="6483096"/>
            <a:ext cx="932688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07A71"/>
                </a:solidFill>
                <a:latin typeface="Arial"/>
              </a:defRPr>
            </a:pPr>
            <a:r>
              <a:t>04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95728"/>
            <a:ext cx="3447288" cy="2688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60904"/>
            <a:ext cx="2916936" cy="4226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33D40"/>
                </a:solidFill>
                <a:latin typeface="Arial"/>
              </a:defRPr>
            </a:pPr>
            <a:r>
              <a:t>Данные без меток</a:t>
            </a:r>
          </a:p>
        </p:txBody>
      </p:sp>
      <p:sp>
        <p:nvSpPr>
          <p:cNvPr id="13" name="Oval 12"/>
          <p:cNvSpPr/>
          <p:nvPr/>
        </p:nvSpPr>
        <p:spPr>
          <a:xfrm>
            <a:off x="1038987" y="3273552"/>
            <a:ext cx="102869" cy="102869"/>
          </a:xfrm>
          <a:prstGeom prst="ellips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7552" y="3403854"/>
            <a:ext cx="205739" cy="226314"/>
          </a:xfrm>
          <a:prstGeom prst="roundRect">
            <a:avLst>
              <a:gd name="adj" fmla="val 12000"/>
            </a:avLst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78482" y="3273552"/>
            <a:ext cx="102869" cy="102869"/>
          </a:xfrm>
          <a:prstGeom prst="ellips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27048" y="3403854"/>
            <a:ext cx="205739" cy="226314"/>
          </a:xfrm>
          <a:prstGeom prst="roundRect">
            <a:avLst>
              <a:gd name="adj" fmla="val 12000"/>
            </a:avLst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17978" y="3273552"/>
            <a:ext cx="102869" cy="102869"/>
          </a:xfrm>
          <a:prstGeom prst="ellips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66543" y="3403854"/>
            <a:ext cx="205739" cy="226314"/>
          </a:xfrm>
          <a:prstGeom prst="roundRect">
            <a:avLst>
              <a:gd name="adj" fmla="val 12000"/>
            </a:avLst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57475" y="3273552"/>
            <a:ext cx="102869" cy="102869"/>
          </a:xfrm>
          <a:prstGeom prst="ellips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06040" y="3403854"/>
            <a:ext cx="205739" cy="226314"/>
          </a:xfrm>
          <a:prstGeom prst="roundRect">
            <a:avLst>
              <a:gd name="adj" fmla="val 12000"/>
            </a:avLst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196971" y="3273552"/>
            <a:ext cx="102869" cy="102869"/>
          </a:xfrm>
          <a:prstGeom prst="ellips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45536" y="3403854"/>
            <a:ext cx="205739" cy="226314"/>
          </a:xfrm>
          <a:prstGeom prst="roundRect">
            <a:avLst>
              <a:gd name="adj" fmla="val 12000"/>
            </a:avLst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8987" y="3776472"/>
            <a:ext cx="102869" cy="102869"/>
          </a:xfrm>
          <a:prstGeom prst="ellips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" y="3906774"/>
            <a:ext cx="205739" cy="226314"/>
          </a:xfrm>
          <a:prstGeom prst="roundRect">
            <a:avLst>
              <a:gd name="adj" fmla="val 12000"/>
            </a:avLst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78482" y="3776472"/>
            <a:ext cx="102869" cy="102869"/>
          </a:xfrm>
          <a:prstGeom prst="ellips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527048" y="3906774"/>
            <a:ext cx="205739" cy="226314"/>
          </a:xfrm>
          <a:prstGeom prst="roundRect">
            <a:avLst>
              <a:gd name="adj" fmla="val 12000"/>
            </a:avLst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117978" y="3776472"/>
            <a:ext cx="102869" cy="102869"/>
          </a:xfrm>
          <a:prstGeom prst="ellips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066543" y="3906774"/>
            <a:ext cx="205739" cy="226314"/>
          </a:xfrm>
          <a:prstGeom prst="roundRect">
            <a:avLst>
              <a:gd name="adj" fmla="val 12000"/>
            </a:avLst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657475" y="3776472"/>
            <a:ext cx="102869" cy="102869"/>
          </a:xfrm>
          <a:prstGeom prst="ellips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06040" y="3906774"/>
            <a:ext cx="205739" cy="226314"/>
          </a:xfrm>
          <a:prstGeom prst="roundRect">
            <a:avLst>
              <a:gd name="adj" fmla="val 12000"/>
            </a:avLst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196971" y="3776472"/>
            <a:ext cx="102869" cy="102869"/>
          </a:xfrm>
          <a:prstGeom prst="ellips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145536" y="3906774"/>
            <a:ext cx="205739" cy="226314"/>
          </a:xfrm>
          <a:prstGeom prst="roundRect">
            <a:avLst>
              <a:gd name="adj" fmla="val 12000"/>
            </a:avLst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8987" y="4279392"/>
            <a:ext cx="102869" cy="102869"/>
          </a:xfrm>
          <a:prstGeom prst="ellips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87552" y="4409694"/>
            <a:ext cx="205739" cy="226314"/>
          </a:xfrm>
          <a:prstGeom prst="roundRect">
            <a:avLst>
              <a:gd name="adj" fmla="val 12000"/>
            </a:avLst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578482" y="4279392"/>
            <a:ext cx="102869" cy="102869"/>
          </a:xfrm>
          <a:prstGeom prst="ellips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27048" y="4409694"/>
            <a:ext cx="205739" cy="226314"/>
          </a:xfrm>
          <a:prstGeom prst="roundRect">
            <a:avLst>
              <a:gd name="adj" fmla="val 12000"/>
            </a:avLst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117978" y="4279392"/>
            <a:ext cx="102869" cy="102869"/>
          </a:xfrm>
          <a:prstGeom prst="ellips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066543" y="4409694"/>
            <a:ext cx="205739" cy="226314"/>
          </a:xfrm>
          <a:prstGeom prst="roundRect">
            <a:avLst>
              <a:gd name="adj" fmla="val 12000"/>
            </a:avLst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657475" y="4279392"/>
            <a:ext cx="102869" cy="102869"/>
          </a:xfrm>
          <a:prstGeom prst="ellips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606040" y="4409694"/>
            <a:ext cx="205739" cy="226314"/>
          </a:xfrm>
          <a:prstGeom prst="roundRect">
            <a:avLst>
              <a:gd name="adj" fmla="val 12000"/>
            </a:avLst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96971" y="4279392"/>
            <a:ext cx="102869" cy="102869"/>
          </a:xfrm>
          <a:prstGeom prst="ellips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145536" y="4409694"/>
            <a:ext cx="205739" cy="226314"/>
          </a:xfrm>
          <a:prstGeom prst="roundRect">
            <a:avLst>
              <a:gd name="adj" fmla="val 12000"/>
            </a:avLst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" y="4608576"/>
            <a:ext cx="2871216" cy="3296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57B7C"/>
                </a:solidFill>
                <a:latin typeface="Arial"/>
              </a:defRPr>
            </a:pPr>
            <a:r>
              <a:t>Поездки жителей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48072" y="3063240"/>
            <a:ext cx="585216" cy="585216"/>
          </a:xfrm>
          <a:prstGeom prst="roundRect">
            <a:avLst>
              <a:gd name="adj" fmla="val 12000"/>
            </a:avLst>
          </a:prstGeom>
          <a:solidFill>
            <a:srgbClr val="777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5266944" y="2962656"/>
            <a:ext cx="0" cy="146304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266944" y="3602736"/>
            <a:ext cx="0" cy="146304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047488" y="3182112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687568" y="3182112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413248" y="2962656"/>
            <a:ext cx="0" cy="146304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413248" y="3602736"/>
            <a:ext cx="0" cy="146304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047488" y="3328416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687568" y="3328416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559552" y="2962656"/>
            <a:ext cx="0" cy="146304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559552" y="3602736"/>
            <a:ext cx="0" cy="146304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047488" y="3474720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687568" y="3474720"/>
            <a:ext cx="146304" cy="0"/>
          </a:xfrm>
          <a:prstGeom prst="line">
            <a:avLst/>
          </a:prstGeom>
          <a:ln w="25400">
            <a:solidFill>
              <a:srgbClr val="777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5330952" y="3246120"/>
            <a:ext cx="201168" cy="201168"/>
          </a:xfrm>
          <a:prstGeom prst="ellipse">
            <a:avLst/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4187952" y="3566160"/>
            <a:ext cx="667512" cy="0"/>
          </a:xfrm>
          <a:prstGeom prst="line">
            <a:avLst/>
          </a:prstGeom>
          <a:ln w="25400">
            <a:solidFill>
              <a:srgbClr val="657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/>
          <p:cNvSpPr/>
          <p:nvPr/>
        </p:nvSpPr>
        <p:spPr>
          <a:xfrm rot="5400000">
            <a:off x="4805172" y="3515868"/>
            <a:ext cx="100584" cy="100584"/>
          </a:xfrm>
          <a:prstGeom prst="triangl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6035040" y="3566160"/>
            <a:ext cx="576072" cy="0"/>
          </a:xfrm>
          <a:prstGeom prst="line">
            <a:avLst/>
          </a:prstGeom>
          <a:ln w="25400">
            <a:solidFill>
              <a:srgbClr val="657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Isosceles Triangle 60"/>
          <p:cNvSpPr/>
          <p:nvPr/>
        </p:nvSpPr>
        <p:spPr>
          <a:xfrm rot="5400000">
            <a:off x="6560820" y="3515868"/>
            <a:ext cx="100584" cy="100584"/>
          </a:xfrm>
          <a:prstGeom prst="triangl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42816" y="3959352"/>
            <a:ext cx="2496312" cy="7325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7773A8"/>
                </a:solidFill>
                <a:latin typeface="Arial"/>
              </a:defRPr>
            </a:pPr>
            <a:r>
              <a:t>Найти</a:t>
            </a:r>
          </a:p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7773A8"/>
                </a:solidFill>
                <a:latin typeface="Arial"/>
              </a:defRPr>
            </a:pPr>
            <a:r>
              <a:t>сходство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784848" y="2734056"/>
            <a:ext cx="1444752" cy="2148840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96658" y="3044952"/>
            <a:ext cx="93268" cy="93268"/>
          </a:xfrm>
          <a:prstGeom prst="ellipse">
            <a:avLst/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050024" y="3163092"/>
            <a:ext cx="186537" cy="205191"/>
          </a:xfrm>
          <a:prstGeom prst="roundRect">
            <a:avLst>
              <a:gd name="adj" fmla="val 12000"/>
            </a:avLst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709306" y="3044952"/>
            <a:ext cx="93268" cy="93268"/>
          </a:xfrm>
          <a:prstGeom prst="ellipse">
            <a:avLst/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662671" y="3163092"/>
            <a:ext cx="186537" cy="205191"/>
          </a:xfrm>
          <a:prstGeom prst="roundRect">
            <a:avLst>
              <a:gd name="adj" fmla="val 12000"/>
            </a:avLst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402982" y="3529584"/>
            <a:ext cx="93268" cy="93268"/>
          </a:xfrm>
          <a:prstGeom prst="ellipse">
            <a:avLst/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356348" y="3647724"/>
            <a:ext cx="186537" cy="205191"/>
          </a:xfrm>
          <a:prstGeom prst="roundRect">
            <a:avLst>
              <a:gd name="adj" fmla="val 12000"/>
            </a:avLst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96658" y="4014216"/>
            <a:ext cx="93268" cy="93268"/>
          </a:xfrm>
          <a:prstGeom prst="ellipse">
            <a:avLst/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050024" y="4132356"/>
            <a:ext cx="186537" cy="205191"/>
          </a:xfrm>
          <a:prstGeom prst="roundRect">
            <a:avLst>
              <a:gd name="adj" fmla="val 12000"/>
            </a:avLst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709306" y="4014216"/>
            <a:ext cx="93268" cy="93268"/>
          </a:xfrm>
          <a:prstGeom prst="ellipse">
            <a:avLst/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662671" y="4132356"/>
            <a:ext cx="186537" cy="205191"/>
          </a:xfrm>
          <a:prstGeom prst="roundRect">
            <a:avLst>
              <a:gd name="adj" fmla="val 12000"/>
            </a:avLst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67144" y="4407408"/>
            <a:ext cx="1280160" cy="2832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07A71"/>
                </a:solidFill>
                <a:latin typeface="Arial"/>
              </a:defRPr>
            </a:pPr>
            <a:r>
              <a:t>Группа 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412480" y="2734056"/>
            <a:ext cx="1444752" cy="2148840"/>
          </a:xfrm>
          <a:prstGeom prst="roundRect">
            <a:avLst>
              <a:gd name="adj" fmla="val 12000"/>
            </a:avLst>
          </a:prstGeom>
          <a:solidFill>
            <a:srgbClr val="EB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724290" y="3044952"/>
            <a:ext cx="93268" cy="93268"/>
          </a:xfrm>
          <a:prstGeom prst="ellipse">
            <a:avLst/>
          </a:prstGeom>
          <a:solidFill>
            <a:srgbClr val="777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677655" y="3163092"/>
            <a:ext cx="186537" cy="205191"/>
          </a:xfrm>
          <a:prstGeom prst="roundRect">
            <a:avLst>
              <a:gd name="adj" fmla="val 12000"/>
            </a:avLst>
          </a:prstGeom>
          <a:solidFill>
            <a:srgbClr val="777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336938" y="3044952"/>
            <a:ext cx="93268" cy="93268"/>
          </a:xfrm>
          <a:prstGeom prst="ellipse">
            <a:avLst/>
          </a:prstGeom>
          <a:solidFill>
            <a:srgbClr val="777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290304" y="3163092"/>
            <a:ext cx="186537" cy="205191"/>
          </a:xfrm>
          <a:prstGeom prst="roundRect">
            <a:avLst>
              <a:gd name="adj" fmla="val 12000"/>
            </a:avLst>
          </a:prstGeom>
          <a:solidFill>
            <a:srgbClr val="777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030614" y="3529584"/>
            <a:ext cx="93268" cy="93268"/>
          </a:xfrm>
          <a:prstGeom prst="ellipse">
            <a:avLst/>
          </a:prstGeom>
          <a:solidFill>
            <a:srgbClr val="777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983980" y="3647724"/>
            <a:ext cx="186537" cy="205191"/>
          </a:xfrm>
          <a:prstGeom prst="roundRect">
            <a:avLst>
              <a:gd name="adj" fmla="val 12000"/>
            </a:avLst>
          </a:prstGeom>
          <a:solidFill>
            <a:srgbClr val="777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24290" y="4014216"/>
            <a:ext cx="93268" cy="93268"/>
          </a:xfrm>
          <a:prstGeom prst="ellipse">
            <a:avLst/>
          </a:prstGeom>
          <a:solidFill>
            <a:srgbClr val="777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8677655" y="4132356"/>
            <a:ext cx="186537" cy="205191"/>
          </a:xfrm>
          <a:prstGeom prst="roundRect">
            <a:avLst>
              <a:gd name="adj" fmla="val 12000"/>
            </a:avLst>
          </a:prstGeom>
          <a:solidFill>
            <a:srgbClr val="777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36938" y="4014216"/>
            <a:ext cx="93268" cy="93268"/>
          </a:xfrm>
          <a:prstGeom prst="ellipse">
            <a:avLst/>
          </a:prstGeom>
          <a:solidFill>
            <a:srgbClr val="777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290304" y="4132356"/>
            <a:ext cx="186537" cy="205191"/>
          </a:xfrm>
          <a:prstGeom prst="roundRect">
            <a:avLst>
              <a:gd name="adj" fmla="val 12000"/>
            </a:avLst>
          </a:prstGeom>
          <a:solidFill>
            <a:srgbClr val="777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94776" y="4407408"/>
            <a:ext cx="1280160" cy="2832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773A8"/>
                </a:solidFill>
                <a:latin typeface="Arial"/>
              </a:defRPr>
            </a:pPr>
            <a:r>
              <a:t>Группа 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040112" y="2734056"/>
            <a:ext cx="1444752" cy="2148840"/>
          </a:xfrm>
          <a:prstGeom prst="roundRect">
            <a:avLst>
              <a:gd name="adj" fmla="val 12000"/>
            </a:avLst>
          </a:prstGeom>
          <a:solidFill>
            <a:srgbClr val="F8E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351922" y="3044952"/>
            <a:ext cx="93268" cy="93268"/>
          </a:xfrm>
          <a:prstGeom prst="ellipse">
            <a:avLst/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305288" y="3163092"/>
            <a:ext cx="186537" cy="205191"/>
          </a:xfrm>
          <a:prstGeom prst="roundRect">
            <a:avLst>
              <a:gd name="adj" fmla="val 12000"/>
            </a:avLst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964570" y="3044952"/>
            <a:ext cx="93268" cy="93268"/>
          </a:xfrm>
          <a:prstGeom prst="ellipse">
            <a:avLst/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0917936" y="3163092"/>
            <a:ext cx="186537" cy="205191"/>
          </a:xfrm>
          <a:prstGeom prst="roundRect">
            <a:avLst>
              <a:gd name="adj" fmla="val 12000"/>
            </a:avLst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658246" y="3529584"/>
            <a:ext cx="93268" cy="93268"/>
          </a:xfrm>
          <a:prstGeom prst="ellipse">
            <a:avLst/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0611612" y="3647724"/>
            <a:ext cx="186537" cy="205191"/>
          </a:xfrm>
          <a:prstGeom prst="roundRect">
            <a:avLst>
              <a:gd name="adj" fmla="val 12000"/>
            </a:avLst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351922" y="4014216"/>
            <a:ext cx="93268" cy="93268"/>
          </a:xfrm>
          <a:prstGeom prst="ellipse">
            <a:avLst/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0305288" y="4132356"/>
            <a:ext cx="186537" cy="205191"/>
          </a:xfrm>
          <a:prstGeom prst="roundRect">
            <a:avLst>
              <a:gd name="adj" fmla="val 12000"/>
            </a:avLst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964570" y="4014216"/>
            <a:ext cx="93268" cy="93268"/>
          </a:xfrm>
          <a:prstGeom prst="ellipse">
            <a:avLst/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0917936" y="4132356"/>
            <a:ext cx="186537" cy="205191"/>
          </a:xfrm>
          <a:prstGeom prst="roundRect">
            <a:avLst>
              <a:gd name="adj" fmla="val 12000"/>
            </a:avLst>
          </a:prstGeom>
          <a:solidFill>
            <a:srgbClr val="A48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122408" y="4407408"/>
            <a:ext cx="1280160" cy="2832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48136"/>
                </a:solidFill>
                <a:latin typeface="Arial"/>
              </a:defRPr>
            </a:pPr>
            <a:r>
              <a:t>Группа 3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94360" y="565099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EB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95528" y="5760720"/>
            <a:ext cx="10579608" cy="3451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7773A8"/>
                </a:solidFill>
                <a:latin typeface="Arial"/>
              </a:defRPr>
            </a:pPr>
            <a:r>
              <a:t>Пример: группы со схожими транспортными потребностями.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080" y="5312664"/>
            <a:ext cx="10881360" cy="2987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57B7C"/>
                </a:solidFill>
                <a:latin typeface="Arial"/>
              </a:defRPr>
            </a:pPr>
            <a:r>
              <a:t>Другой метод обучения; в городской симуляции площадки не выполняется.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310896"/>
            <a:ext cx="118872" cy="118872"/>
          </a:xfrm>
          <a:prstGeom prst="ellipse">
            <a:avLst/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274320"/>
            <a:ext cx="2743200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7A71"/>
                </a:solidFill>
                <a:latin typeface="Arial"/>
              </a:defRPr>
            </a:pPr>
            <a:r>
              <a:t>ОСНОВЫ 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06840" y="219456"/>
            <a:ext cx="2596896" cy="347472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6567" y="292608"/>
            <a:ext cx="2377439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7A71"/>
                </a:solidFill>
                <a:latin typeface="Arial"/>
              </a:defRPr>
            </a:pPr>
            <a:r>
              <a:t>ПОЗНАЁМ ЧЕРЕЗ ОПЫТ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13816"/>
            <a:ext cx="11018520" cy="6550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58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233D40"/>
                </a:solidFill>
                <a:latin typeface="Arial"/>
              </a:defRPr>
            </a:pPr>
            <a:r>
              <a:t>Обучение с подкреплением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10881360" cy="4071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57B7C"/>
                </a:solidFill>
                <a:latin typeface="Arial"/>
              </a:defRPr>
            </a:pPr>
            <a:r>
              <a:t>Агент учится выбирать действия по награде за их последствия.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10160">
            <a:solidFill>
              <a:srgbClr val="D6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2" y="6510528"/>
            <a:ext cx="7315200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57B7C"/>
                </a:solidFill>
                <a:latin typeface="Arial"/>
              </a:defRPr>
            </a:pPr>
            <a:r>
              <a:t>поИИграем? · Фестиваль науки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5328" y="6483096"/>
            <a:ext cx="932688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07A71"/>
                </a:solidFill>
                <a:latin typeface="Arial"/>
              </a:defRPr>
            </a:pPr>
            <a:r>
              <a:t>05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95728"/>
            <a:ext cx="5166360" cy="1152144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60320"/>
            <a:ext cx="4718304" cy="4071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07A71"/>
                </a:solidFill>
                <a:latin typeface="Arial"/>
              </a:defRPr>
            </a:pPr>
            <a:r>
              <a:t>Агент выбирает действие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090672"/>
            <a:ext cx="4718304" cy="3141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33D40"/>
                </a:solidFill>
                <a:latin typeface="Arial"/>
              </a:defRPr>
            </a:pPr>
            <a:r>
              <a:t>Например, куда двигаться.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2395728"/>
            <a:ext cx="5166360" cy="1152144"/>
          </a:xfrm>
          <a:prstGeom prst="roundRect">
            <a:avLst>
              <a:gd name="adj" fmla="val 12000"/>
            </a:avLst>
          </a:prstGeom>
          <a:solidFill>
            <a:srgbClr val="E7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560320"/>
            <a:ext cx="4718304" cy="4071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60879C"/>
                </a:solidFill>
                <a:latin typeface="Arial"/>
              </a:defRPr>
            </a:pPr>
            <a:r>
              <a:t>Среда отвечает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090672"/>
            <a:ext cx="4718304" cy="3141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33D40"/>
                </a:solidFill>
                <a:latin typeface="Arial"/>
              </a:defRPr>
            </a:pPr>
            <a:r>
              <a:t>Действие меняет ситуацию.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3977639"/>
            <a:ext cx="5166360" cy="1152144"/>
          </a:xfrm>
          <a:prstGeom prst="roundRect">
            <a:avLst>
              <a:gd name="adj" fmla="val 12000"/>
            </a:avLst>
          </a:prstGeom>
          <a:solidFill>
            <a:srgbClr val="F8E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142231"/>
            <a:ext cx="4718304" cy="4071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A48136"/>
                </a:solidFill>
                <a:latin typeface="Arial"/>
              </a:defRPr>
            </a:pPr>
            <a:r>
              <a:t>Агент получает награду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672583"/>
            <a:ext cx="4718304" cy="3141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33D40"/>
                </a:solidFill>
                <a:latin typeface="Arial"/>
              </a:defRPr>
            </a:pPr>
            <a:r>
              <a:t>Учитывает успех и затраты.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977639"/>
            <a:ext cx="5166360" cy="1152144"/>
          </a:xfrm>
          <a:prstGeom prst="roundRect">
            <a:avLst>
              <a:gd name="adj" fmla="val 12000"/>
            </a:avLst>
          </a:prstGeom>
          <a:solidFill>
            <a:srgbClr val="EB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142231"/>
            <a:ext cx="4718304" cy="4071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7773A8"/>
                </a:solidFill>
                <a:latin typeface="Arial"/>
              </a:defRPr>
            </a:pPr>
            <a:r>
              <a:t>Обновляет стратегию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672583"/>
            <a:ext cx="4718304" cy="3141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33D40"/>
                </a:solidFill>
                <a:latin typeface="Arial"/>
              </a:defRPr>
            </a:pPr>
            <a:r>
              <a:t>Учится выбирать следующие действия.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52160" y="2962656"/>
            <a:ext cx="466344" cy="0"/>
          </a:xfrm>
          <a:prstGeom prst="line">
            <a:avLst/>
          </a:prstGeom>
          <a:ln w="25400">
            <a:solidFill>
              <a:srgbClr val="657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268212" y="2912364"/>
            <a:ext cx="100584" cy="100584"/>
          </a:xfrm>
          <a:prstGeom prst="triangl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997696" y="3639312"/>
            <a:ext cx="0" cy="228600"/>
          </a:xfrm>
          <a:prstGeom prst="line">
            <a:avLst/>
          </a:prstGeom>
          <a:ln w="25400">
            <a:solidFill>
              <a:srgbClr val="657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8947404" y="3817620"/>
            <a:ext cx="100584" cy="100584"/>
          </a:xfrm>
          <a:prstGeom prst="triangl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5852160" y="4544568"/>
            <a:ext cx="466344" cy="0"/>
          </a:xfrm>
          <a:prstGeom prst="line">
            <a:avLst/>
          </a:prstGeom>
          <a:ln w="25400">
            <a:solidFill>
              <a:srgbClr val="657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6200000">
            <a:off x="5801868" y="4494276"/>
            <a:ext cx="100584" cy="100584"/>
          </a:xfrm>
          <a:prstGeom prst="triangl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3172968" y="3639312"/>
            <a:ext cx="0" cy="228600"/>
          </a:xfrm>
          <a:prstGeom prst="line">
            <a:avLst/>
          </a:prstGeom>
          <a:ln w="25400">
            <a:solidFill>
              <a:srgbClr val="657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>
            <a:off x="3122676" y="3589020"/>
            <a:ext cx="100584" cy="100584"/>
          </a:xfrm>
          <a:prstGeom prst="triangle">
            <a:avLst/>
          </a:prstGeom>
          <a:solidFill>
            <a:srgbClr val="657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58384"/>
            <a:ext cx="10881360" cy="2987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57B7C"/>
                </a:solidFill>
                <a:latin typeface="Arial"/>
              </a:defRPr>
            </a:pPr>
            <a:r>
              <a:t>Другой метод обучения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65099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760720"/>
            <a:ext cx="10579608" cy="3296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07A71"/>
                </a:solidFill>
                <a:latin typeface="Arial"/>
              </a:defRPr>
            </a:pPr>
            <a:r>
              <a:t>Робот площадки учится по измерениям; звёзды оценивают результат игры.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" y="310896"/>
            <a:ext cx="118872" cy="118872"/>
          </a:xfrm>
          <a:prstGeom prst="ellipse">
            <a:avLst/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274320"/>
            <a:ext cx="2743200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7A71"/>
                </a:solidFill>
                <a:latin typeface="Arial"/>
              </a:defRPr>
            </a:pPr>
            <a:r>
              <a:t>ОСНОВЫ 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06840" y="219456"/>
            <a:ext cx="2596896" cy="347472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16567" y="292608"/>
            <a:ext cx="2377439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7A71"/>
                </a:solidFill>
                <a:latin typeface="Arial"/>
              </a:defRPr>
            </a:pPr>
            <a:r>
              <a:t>ПОЗНАЁМ ЧЕРЕЗ ОПЫТ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13816"/>
            <a:ext cx="11018520" cy="6550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758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233D40"/>
                </a:solidFill>
                <a:latin typeface="Arial"/>
              </a:defRPr>
            </a:pPr>
            <a:r>
              <a:t>Проверяем в новых условиях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00200"/>
            <a:ext cx="10881360" cy="4071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57B7C"/>
                </a:solidFill>
                <a:latin typeface="Arial"/>
              </a:defRPr>
            </a:pPr>
            <a:r>
              <a:t>Сравнение прогноза с фактом показывает, где знания работают.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364224"/>
            <a:ext cx="11000232" cy="0"/>
          </a:xfrm>
          <a:prstGeom prst="line">
            <a:avLst/>
          </a:prstGeom>
          <a:ln w="10160">
            <a:solidFill>
              <a:srgbClr val="D6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2" y="6510528"/>
            <a:ext cx="7315200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57B7C"/>
                </a:solidFill>
                <a:latin typeface="Arial"/>
              </a:defRPr>
            </a:pPr>
            <a:r>
              <a:t>поИИграем? · Фестиваль науки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25328" y="6483096"/>
            <a:ext cx="932688" cy="267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7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07A71"/>
                </a:solidFill>
                <a:latin typeface="Arial"/>
              </a:defRPr>
            </a:pPr>
            <a:r>
              <a:t>06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50008"/>
            <a:ext cx="5349240" cy="2852928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2350008"/>
            <a:ext cx="5349240" cy="2852928"/>
          </a:xfrm>
          <a:prstGeom prst="roundRect">
            <a:avLst>
              <a:gd name="adj" fmla="val 12000"/>
            </a:avLst>
          </a:prstGeom>
          <a:solidFill>
            <a:srgbClr val="E7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33472"/>
            <a:ext cx="4773168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307A71"/>
                </a:solidFill>
                <a:latin typeface="Arial"/>
              </a:defRPr>
            </a:pPr>
            <a:r>
              <a:t>Робот · проверка модели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060704" y="3154680"/>
            <a:ext cx="978408" cy="365760"/>
          </a:xfrm>
          <a:prstGeom prst="line">
            <a:avLst/>
          </a:prstGeom>
          <a:ln w="25400">
            <a:solidFill>
              <a:srgbClr val="307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39112" y="3154680"/>
            <a:ext cx="1078992" cy="411480"/>
          </a:xfrm>
          <a:prstGeom prst="line">
            <a:avLst/>
          </a:prstGeom>
          <a:ln w="25400">
            <a:solidFill>
              <a:srgbClr val="307A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96696" y="3456432"/>
            <a:ext cx="164592" cy="164592"/>
          </a:xfrm>
          <a:prstGeom prst="ellipse">
            <a:avLst/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65960" y="3090672"/>
            <a:ext cx="164592" cy="164592"/>
          </a:xfrm>
          <a:prstGeom prst="ellipse">
            <a:avLst/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54096" y="3493008"/>
            <a:ext cx="164592" cy="164592"/>
          </a:xfrm>
          <a:prstGeom prst="ellipse">
            <a:avLst/>
          </a:prstGeom>
          <a:solidFill>
            <a:srgbClr val="307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03904" y="3255264"/>
            <a:ext cx="1591056" cy="347472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13632" y="3328416"/>
            <a:ext cx="1371600" cy="236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7A71"/>
                </a:solidFill>
                <a:latin typeface="Arial"/>
              </a:defRPr>
            </a:pPr>
            <a:r>
              <a:t>НОВЫЙ ПУТЬ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995928"/>
            <a:ext cx="4718304" cy="3916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33D40"/>
                </a:solidFill>
                <a:latin typeface="Arial"/>
              </a:defRPr>
            </a:pPr>
            <a:r>
              <a:t>Прогноз → поездка → факт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517136"/>
            <a:ext cx="4709160" cy="6395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33D40"/>
                </a:solidFill>
                <a:latin typeface="Arial"/>
              </a:defRPr>
            </a:pPr>
            <a:r>
              <a:t>Новые сочетания показывают,</a:t>
            </a:r>
          </a:p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33D40"/>
                </a:solidFill>
                <a:latin typeface="Arial"/>
              </a:defRPr>
            </a:pPr>
            <a:r>
              <a:t>где данных ещё не хватает.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33472"/>
            <a:ext cx="4773168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879C"/>
                </a:solidFill>
                <a:latin typeface="Arial"/>
              </a:defRPr>
            </a:pPr>
            <a:r>
              <a:t>Город · агентная симуляция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75704" y="3362431"/>
            <a:ext cx="531083" cy="362102"/>
          </a:xfrm>
          <a:prstGeom prst="roundRect">
            <a:avLst>
              <a:gd name="adj" fmla="val 12000"/>
            </a:avLst>
          </a:prstGeom>
          <a:solidFill>
            <a:srgbClr val="608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6735470" y="3209544"/>
            <a:ext cx="611550" cy="289681"/>
          </a:xfrm>
          <a:prstGeom prst="triangle">
            <a:avLst/>
          </a:prstGeom>
          <a:solidFill>
            <a:srgbClr val="608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92965" y="3523366"/>
            <a:ext cx="112654" cy="201168"/>
          </a:xfrm>
          <a:prstGeom prst="rect">
            <a:avLst/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32419" y="3246120"/>
            <a:ext cx="137160" cy="137160"/>
          </a:xfrm>
          <a:prstGeom prst="ellipse">
            <a:avLst/>
          </a:prstGeom>
          <a:solidFill>
            <a:srgbClr val="608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63840" y="3419856"/>
            <a:ext cx="274320" cy="301752"/>
          </a:xfrm>
          <a:prstGeom prst="roundRect">
            <a:avLst>
              <a:gd name="adj" fmla="val 12000"/>
            </a:avLst>
          </a:prstGeom>
          <a:solidFill>
            <a:srgbClr val="608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14232" y="3362431"/>
            <a:ext cx="531083" cy="362102"/>
          </a:xfrm>
          <a:prstGeom prst="roundRect">
            <a:avLst>
              <a:gd name="adj" fmla="val 12000"/>
            </a:avLst>
          </a:prstGeom>
          <a:solidFill>
            <a:srgbClr val="608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>
            <a:off x="8673998" y="3209544"/>
            <a:ext cx="611550" cy="289681"/>
          </a:xfrm>
          <a:prstGeom prst="triangle">
            <a:avLst/>
          </a:prstGeom>
          <a:solidFill>
            <a:srgbClr val="608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31493" y="3523366"/>
            <a:ext cx="112654" cy="201168"/>
          </a:xfrm>
          <a:prstGeom prst="rect">
            <a:avLst/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415783" y="3465576"/>
            <a:ext cx="338329" cy="0"/>
          </a:xfrm>
          <a:prstGeom prst="line">
            <a:avLst/>
          </a:prstGeom>
          <a:ln w="19050">
            <a:solidFill>
              <a:srgbClr val="6087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7703820" y="3415284"/>
            <a:ext cx="100584" cy="100584"/>
          </a:xfrm>
          <a:prstGeom prst="triangle">
            <a:avLst/>
          </a:prstGeom>
          <a:solidFill>
            <a:srgbClr val="608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220456" y="3465576"/>
            <a:ext cx="374904" cy="0"/>
          </a:xfrm>
          <a:prstGeom prst="line">
            <a:avLst/>
          </a:prstGeom>
          <a:ln w="19050">
            <a:solidFill>
              <a:srgbClr val="6087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8545068" y="3415284"/>
            <a:ext cx="100584" cy="100584"/>
          </a:xfrm>
          <a:prstGeom prst="triangle">
            <a:avLst/>
          </a:prstGeom>
          <a:solidFill>
            <a:srgbClr val="608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3995928"/>
            <a:ext cx="4709160" cy="3761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33D40"/>
                </a:solidFill>
                <a:latin typeface="Arial"/>
              </a:defRPr>
            </a:pPr>
            <a:r>
              <a:t>Жители выбирают действия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4517136"/>
            <a:ext cx="4709160" cy="6395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33D40"/>
                </a:solidFill>
                <a:latin typeface="Arial"/>
              </a:defRPr>
            </a:pPr>
            <a:r>
              <a:t>Правила заданы в модели.</a:t>
            </a:r>
          </a:p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33D40"/>
                </a:solidFill>
                <a:latin typeface="Arial"/>
              </a:defRPr>
            </a:pPr>
            <a:r>
              <a:t>Решения меняют последствия.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650992"/>
            <a:ext cx="11000232" cy="530352"/>
          </a:xfrm>
          <a:prstGeom prst="roundRect">
            <a:avLst>
              <a:gd name="adj" fmla="val 12000"/>
            </a:avLst>
          </a:prstGeom>
          <a:solidFill>
            <a:srgbClr val="E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" y="5760720"/>
            <a:ext cx="10579608" cy="3451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07A71"/>
                </a:solidFill>
                <a:latin typeface="Arial"/>
              </a:defRPr>
            </a:pPr>
            <a:r>
              <a:t>Честное сравнение начинается с одинаковых исходных условий.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Искусственный интеллект: данные, обучение и проверка</dc:title>
  <dc:subject>Вводная об ИИ с примерами робота и агентной симуляции города</dc:subject>
  <dc:creator>поИИграем? · Фестиваль науки</dc:creator>
  <cp:keywords>ИИ, данные, обучение, робот, агенты, симуляция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